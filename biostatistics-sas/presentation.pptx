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72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Analiza Hcy i ryzyka raka płuca względem genotypu MTHFR 665 C&gt;T
Pełna treść: temat analizy, zmienne Hcy, MTHFR665 i CaseControl, cel prezentacji oraz struktura rozwiązania.
Elementy z outputu SAS: brak.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Treść zadania i cel analizy
Pełna treść: pytania badawcze dotyczące różnic w poziomie Hcy oraz związku genotypu MTHFR665 ze statusem Case/Control; plan rozwiązania w sześciu krokach.
Elementy z outputu SAS: brak.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Dane i zmienne użyte w analizie
Pełna treść: liczba obserwacji 1056, rozkład genotypów CC/CT/TT, rozkład Case/Control oraz uwaga o nierównych liczebnościach grup.
Elementy z outputu SAS: tabele PROC FREQ dla MTHFR665 i CaseControl.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Zastosowana metoda statystyczna
Pełna treść: logika analizy dla zmiennej Hcy oraz dla zmiennej binarnej Case/Control; opis testów Shapiro-Wilka, Kruskala-Wallisa, DSCF, regresji logistycznej i testu chi-kwadrat.
Elementy z outputu SAS: brak.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Kod SAS: analiza poziomu Hcy
Pełna treść: skrócony kod SAS wykonujący PROC MEANS, PROC SGPLOT, PROC UNIVARIATE oraz PROC NPAR1WAY dla Hcy według genotypu.
Elementy z outputu SAS: brak; slajd pokazuje fragmenty kodu analitycznego.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Kod SAS: ryzyko raka płuca
Pełna treść: skrócony kod SAS tworzący zmienną binarną outcome, model regresji logistycznej oraz tabelę kontyngencji z testem chi-kwadrat.
Elementy z outputu SAS: brak; slajd pokazuje fragmenty kodu analitycznego.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Wyniki opisowe: poziom Hcy a genotyp MTHFR665
Pełna treść: mediana, średnia i ogólna obserwacja, że grupa TT ma opisowo najwyższy poziom Hcy, ale wymaga to testu istotności.
Elementy z outputu SAS: tabela PROC MEANS oraz wykres boxplot z PROC SGPLOT.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Ocena normalności rozkładu Hcy
Pełna treść: wyniki Shapiro-Wilka wskazują p &lt; 0,0001 w grupach CC, CT i TT; odrzucenie normalności uzasadnia test nieparametryczny.
Elementy z outputu SAS: trzy tabele Tests for Normality oraz histogramy Hcy z PROC UNIVARIATE dla CC, CT i TT.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Test Kruskala-Wallisa: Hcy według genotypu
Pełna treść: hipotezy testu, wynik χ²=1,7877, df=2, p=0,4091 oraz interpretacja braku istotnych różnic globalnych.
Elementy z outputu SAS: tabela Kruskal-Wallis Test oraz wykres Wilcoxon Scores z PROC NPAR1WAY.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Analiza post-hoc DSCF
Pełna treść: wyniki p dla par CC vs CT, CC vs TT i CT vs TT oraz wniosek, że żadna para genotypów nie różni się istotnie pod względem Hcy.
Elementy z outputu SAS: tabela DSCF Multiple Comparison Analysis z PROC NPAR1WAY.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Regresja logistyczna: genotyp a status Case/Control
Pełna treść: model logistyczny z CC jako referencją; test globalny p≈0,027, Type 3 p=0,0273, OR dla CT i TT względem CC oraz interpretacja 95% CI.
Elementy z outputu SAS: tabele Testing Global Null Hypothesis: BETA=0, Type 3 Analysis of Effects, Odds Ratio Estimates and Wald Confidence Intervals oraz wykres ORPlot.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Tabela kontyngencji i test χ²
Pełna treść: wynik testu chi-kwadrat p=0,0267, odsetki Case w genotypach CC/CT/TT oraz informacja o słabej sile zależności Cramer’s V=0,0828.
Elementy z outputu SAS: tabela Table of MTHFR665 by CaseControl oraz tabela Chi-Square Tests z PROC FREQ.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Interpretacja statystyczna i merytoryczna
Pełna treść: podsumowanie braku istotnych różnic Hcy, istotnej asocjacji genotypu ze statusem Case/Control, ograniczeń modelu oraz biologicznego kontekstu MTHFR.
Elementy z outputu SAS: brak nowych tabel; slajd syntetyzuje wyniki wcześniejszych tabel i wykresów.
Źródła naukowe: Frosst et al., Nature Genetics 1995; Mao et al., Journal of Human Genetics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Wnioski końcowe
Pełna treść: odpowiedź na pytanie o Hcy oraz na pytanie o status Case/Control; podkreślenie braku wniosku przyczynowego i potrzeby modelu wieloczynnikowego.
Elementy z outputu SAS: brak nowych tabel; slajd syntetyzuje wyniki wcześniejszych analiz.
Źródła naukowe: brak.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Tytuł slajdu: Publikacje naukowe wykorzystane w interpretacji
Pełna treść: dwa linki do publikacji naukowych: Frosst et al. 1995 oraz Mao et al. 2008; informacja, że pliki techniczne nie są traktowane jako źródła bibliograficzne.
Elementy z outputu SAS: brak.
Źródła naukowe: Frosst et al., Nature Genetics 1995; Mao et al., Journal of Human Genetics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7647779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ature.com/articles/jhg200841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7647779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ature.com/articles/jhg2008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Hcy i ryzyka raka płuca względem genotypu MTHFR 665 C&gt;T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Zadanie 7 · biostatystyka · analiza wykonana w SAS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835640" cy="425196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 analizy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176272"/>
            <a:ext cx="5029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Poziom homocysteiny oraz status Case/Control w zależności od genotypu MTHFR665.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0" cy="3566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17830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9110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Zmienna ciągła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0" y="2203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poziom homocysteiny [μmol/l]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110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Zmienna grupująca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0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CT / TT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0" y="2606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genotyp MTHFR 665 C&gt;T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720840" y="347472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60273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kliniczny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0" y="38953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Control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4297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zmienna wynikowa dla modelu logistycznego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51560" y="3931920"/>
            <a:ext cx="4983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prezentacji: pokazać tok rozwiązania, dobór metody statystycznej, wyniki z SAS oraz końcową interpretację.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Wprowadzenie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Treść zadania i cel analizy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pytania badawcze: różnice Hcy oraz związek genotypu ze statusem Case/Control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727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Pytania z zadania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Czy poziom homocysteiny różni się między genotypami MTHFR665?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Czy genotyp MTHFR665 wpływa na ryzyko raka płuca rozumiane jako status Case/Control?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Które wyniki są statystycznie istotne i jak można je zinterpretować biologicznie?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rozwiązania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965960"/>
            <a:ext cx="452628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Sprawdzenie liczebności i braków danych.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Opis rozkładu Hcy w grupach genotypowych.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Ocena normalności rozkładu Hcy.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Dobór testu globalnego i post-hoc.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Model logistyczny: OR dla CT i TT względem CC.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Interpretacja oraz wnioski końcowe.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685800" y="570585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prezentacji rozróżniamy istotność statystyczną od znaczenia merytorycznego.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Wprowadzenie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i zmienne użyte w analizie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Liczebności genotypów oraz statusu Case/Control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435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Tabele z PROC FREQ: MTHFR665 oraz CaseControl</a:t>
            </a:r>
            <a:endParaRPr lang="en-US" sz="950" dirty="0"/>
          </a:p>
        </p:txBody>
      </p:sp>
      <p:pic>
        <p:nvPicPr>
          <p:cNvPr id="6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93007"/>
            <a:ext cx="6583680" cy="16042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298448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Najważniejsze informacje o próbie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818120" y="2011680"/>
            <a:ext cx="34290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Łączna liczba obserwacji: 1056.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Genotypy: CC 42,23%; CT 48,11%; TT 9,66%.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Case 25,00%; Control 75,00%.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Dalsze analizy dla Hcy wykorzystują obserwacje niebrakujące w danej grupie.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7818120" y="4590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Uwaga metodologiczna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18120" y="4864608"/>
            <a:ext cx="34290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Nierówne liczebności grup są dopuszczalne, ale wpływają na precyzję estymacji — zwłaszcza w grupie TT.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Zastosowana metoda statystyczna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Dobór testów wynika z typu zmiennych i założeń rozkładu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Część A: Hcy jako zmienna ciągła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Część B: status Case/Control jako zmienna binarna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Hcy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20391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średnia, mediana, SD, min–max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2980" y="2221992"/>
            <a:ext cx="0" cy="3840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633472"/>
            <a:ext cx="411480" cy="411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2615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Normalność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889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Shapiro-Wilk osobno dla CC/CT/TT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2980" y="3072384"/>
            <a:ext cx="0" cy="3840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83864"/>
            <a:ext cx="411480" cy="411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935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3465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globalny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7398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Kruskal-Wallis przy braku normalności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2980" y="3922776"/>
            <a:ext cx="0" cy="3840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334256"/>
            <a:ext cx="411480" cy="411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439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4315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25880" y="45902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DSCF dla porównań parami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17830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Kodowanie outcome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40880" y="20391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Case, 0 = Control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97980" y="2221992"/>
            <a:ext cx="0" cy="3840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263347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6151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Regresja logistyczna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040880" y="2889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MTHFR665 jako predyktor kategoryczny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97980" y="3072384"/>
            <a:ext cx="0" cy="3840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483864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5935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4655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 95% CI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040880" y="37398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jako grupa referencyjna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97980" y="3922776"/>
            <a:ext cx="0" cy="3840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4334256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4439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4315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χ²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040880" y="45902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niezależność MTHFR665 i CaseControl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5800" y="5321808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53212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Założenie decyzyjne: p &lt; 0,05 traktujemy jako wynik istotny statystycznie. Przy interpretacji OR sprawdzamy także, czy 95% CI obejmuje 1.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Metodyka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SAS: analiza poziomu Hcy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Najważniejsze fragmenty kodu dla części A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554480"/>
            <a:ext cx="51480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MEANS DATA=dane N NMISS MEAN MEDIAN STD MIN MAX MAXDEC=2;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MTHFR665;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Hcy;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"Statystyki opisowe homocysteiny wedlug genotypu MTHFR 665 C&gt;T";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SGPLOT DATA=dane;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VBOX Hcy / CATEGORY=MTHFR665;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XAXIS LABEL="Genotyp MTHFR 665 C&gt;T";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YAXIS LABEL="Poziom homocysteiny (umol/l)";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7104" y="1554480"/>
            <a:ext cx="482803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SORT DATA=dane; BY MTHFR665; RUN;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UNIVARIATE DATA=dane NORMAL;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 MTHFR665;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Hcy;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HISTOGRAM Hcy / NORMAL;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NPAR1WAY DATA=dane WILCOXON DSCF;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MTHFR665;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Hcy;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"Kruskal-Wallis + post-hoc DSCF";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85800" y="5833872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</a:t>
            </a:r>
            <a:r>
              <a:rPr lang="en-US" sz="11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prowadzi od opisu danych, przez ocenę normalności, do testu nieparametrycznego i analizy post-hoc.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SAS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SAS: ryzyko raka płuca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Najważniejsze fragmenty kodu dla części B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554480"/>
            <a:ext cx="519379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dane2;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dane;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CaseControl = 'Case' THEN outcome = 1;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CaseControl = 'Control' THEN outcome = 0;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LOGISTIC DATA=dane2;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MTHFR665 (REF='CC') / PARAM=REF;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outcome(EVENT='1') = MTHFR665 / CLODDS=WALD;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"Regresja logistyczna: wplyw genotypu MTHFR 665 C&gt;T";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983480" cy="2057400"/>
          </a:xfrm>
          <a:prstGeom prst="roundRect">
            <a:avLst>
              <a:gd name="adj" fmla="val 355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38544" y="1554480"/>
            <a:ext cx="4690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FREQ DATA=dane;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 MTHFR665 * CaseControl / CHISQ RELRISK;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"Tabela kontyngencji: genotyp MTHFR 665 C&gt;T vs rak pluca";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92240" y="374904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40050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oznacza model?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4389120"/>
            <a:ext cx="44348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outcome=1 oznacza przypadek raka płuca.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Grupa referencyjna: CC.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 porównuje CT i TT względem CC.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95% CI pozwala ocenić precyzję i istotność efektu.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SAS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opisowe: poziom Hcy a genotyp MTHFR665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MEANS + PROC SGPLOT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z PROC MEANS: statystyki opisowe Hcy według genotypu</a:t>
            </a:r>
            <a:endParaRPr lang="en-US" sz="950" dirty="0"/>
          </a:p>
        </p:txBody>
      </p:sp>
      <p:pic>
        <p:nvPicPr>
          <p:cNvPr id="6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489"/>
            <a:ext cx="5532120" cy="14901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40156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widać w danych opisowych?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3767328"/>
            <a:ext cx="5349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Mediana Hcy: CC 14,60; CT 14,90; TT 16,00 μmol/l.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Średnia: CC 15,97; CT 15,81; TT 17,03 μmol/l.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Grupa TT ma opisowo najwyższy poziom Hcy.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Różnica opisowa nie oznacza automatycznie istotności statystycznej.</a:t>
            </a:r>
            <a:endParaRPr lang="en-US" sz="1360" dirty="0"/>
          </a:p>
        </p:txBody>
      </p:sp>
      <p:sp>
        <p:nvSpPr>
          <p:cNvPr id="9" name="Text 6"/>
          <p:cNvSpPr/>
          <p:nvPr/>
        </p:nvSpPr>
        <p:spPr>
          <a:xfrm>
            <a:off x="54864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Kolejny krok: sprawdzenie normalności rozkładów Hcy w grupach genotypowych.</a:t>
            </a:r>
            <a:endParaRPr lang="en-US" sz="1130" dirty="0"/>
          </a:p>
        </p:txBody>
      </p:sp>
      <p:pic>
        <p:nvPicPr>
          <p:cNvPr id="10" name="Image 1" descr="Element graficz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285875"/>
            <a:ext cx="5166360" cy="38747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6520" y="53949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Wykres z PROC SGPLOT: boxplot Hcy według genotypu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Hcy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normalności rozkładu Hcy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UNIVARIATE: Shapiro-Wilk oraz histogramy z krzywą normalną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8294" y="123215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Tabele z PROC UNIVARIATE: Tests for Normality</a:t>
            </a:r>
            <a:endParaRPr lang="en-US" sz="950" dirty="0"/>
          </a:p>
        </p:txBody>
      </p:sp>
      <p:pic>
        <p:nvPicPr>
          <p:cNvPr id="6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94" y="1444752"/>
            <a:ext cx="10321507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 z testu Shapiro-Wilka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931920"/>
            <a:ext cx="4343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wszystkich trzech grupach p &lt; 0,0001.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Odrzucamy hipotezę o rozkładzie normalnym Hcy.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Dalsza analiza różnic między genotypami powinna używać testu nieparametrycznego.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623560" y="32689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Histogramy z PROC UNIVARIATE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532120" y="3499433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</a:t>
            </a:r>
            <a:endParaRPr lang="en-US" sz="950" dirty="0"/>
          </a:p>
        </p:txBody>
      </p:sp>
      <p:pic>
        <p:nvPicPr>
          <p:cNvPr id="11" name="Image 1" descr="Element graficz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740" y="3703320"/>
            <a:ext cx="2133600" cy="160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71232" y="350901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950" dirty="0"/>
          </a:p>
        </p:txBody>
      </p:sp>
      <p:pic>
        <p:nvPicPr>
          <p:cNvPr id="13" name="Image 2" descr="Element graficzn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852" y="3703320"/>
            <a:ext cx="2133600" cy="160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10344" y="35204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</a:t>
            </a:r>
            <a:endParaRPr lang="en-US" sz="950" dirty="0"/>
          </a:p>
        </p:txBody>
      </p:sp>
      <p:pic>
        <p:nvPicPr>
          <p:cNvPr id="15" name="Image 3" descr="Element graficzn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7964" y="3703320"/>
            <a:ext cx="2133600" cy="1600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23560" y="54864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Histogramy pokazują prawostronną asymetrię i obserwacje skrajne, szczególnie widoczne w grupie TT.</a:t>
            </a:r>
            <a:endParaRPr lang="en-US" sz="1030" dirty="0"/>
          </a:p>
        </p:txBody>
      </p:sp>
      <p:sp>
        <p:nvSpPr>
          <p:cNvPr id="17" name="Shape 11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Hcy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Kruskala-Wallisa: Hcy według genotypu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NPAR1WAY: wynik globalny dla trzech niezależnych grup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4892040" cy="42062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Hipotezy testu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1993392"/>
            <a:ext cx="42519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H₀: rozkład Hcy jest taki sam w grupach CC, CT i TT.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H₁: co najmniej jedna grupa różni się od pozostałych.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używa rang, dlatego jest odporniejszy na brak normalności niż klasyczna ANOVA.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 z SAS</a:t>
            </a:r>
            <a:endParaRPr lang="en-US" sz="1550" dirty="0"/>
          </a:p>
        </p:txBody>
      </p:sp>
      <p:pic>
        <p:nvPicPr>
          <p:cNvPr id="9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216" y="4050792"/>
            <a:ext cx="2347928" cy="1051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52303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0,4091 &gt; 0,05 → brak podstaw do odrzucenia H₀.</a:t>
            </a:r>
            <a:endParaRPr lang="en-US" sz="1150" dirty="0"/>
          </a:p>
        </p:txBody>
      </p:sp>
      <p:pic>
        <p:nvPicPr>
          <p:cNvPr id="11" name="Image 1" descr="Element graficz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440180"/>
            <a:ext cx="5303520" cy="3977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0760" y="56509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Wykres z PROC NPAR1WAY: rozkład rang Wilcoxona dla Hcy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Hcy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post-hoc DSCF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Porównania parami po teście Kruskala-Wallisa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9457" y="121867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z PROC NPAR1WAY: Pairwise Two-Sided Multiple Comparison Analysis</a:t>
            </a:r>
            <a:endParaRPr lang="en-US" sz="950" dirty="0"/>
          </a:p>
        </p:txBody>
      </p:sp>
      <p:pic>
        <p:nvPicPr>
          <p:cNvPr id="6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57" y="1508760"/>
            <a:ext cx="4841926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81328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porównań parami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2176272"/>
            <a:ext cx="44348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CC vs CT: p = 0,8799.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CC vs TT: p = 0,3813.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 vs TT: p = 0,5303.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Wszystkie wartości p są większe niż 0,05.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Wynik post-hoc potwierdza brak istotnych różnic Hcy między parami genotypów.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4892040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50840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 dla części 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017520" y="508406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analizowanym zbiorze danych nie stwierdzono istotnego statystycznie wpływu genotypu MTHFR665 na poziom Hcy.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Hcy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Regresja logistyczna: genotyp a status Case/Control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LOGISTIC: model z CC jako grupą referencyjną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579" y="121615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Tabele z PROC LOGISTIC: test </a:t>
            </a:r>
            <a:r>
              <a:rPr lang="en-US" sz="950" i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globalny</a:t>
            </a: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Type 3 i OR</a:t>
            </a:r>
            <a:endParaRPr lang="en-US" sz="950" dirty="0"/>
          </a:p>
        </p:txBody>
      </p:sp>
      <p:pic>
        <p:nvPicPr>
          <p:cNvPr id="6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79" y="1444752"/>
            <a:ext cx="2779425" cy="1298448"/>
          </a:xfrm>
          <a:prstGeom prst="rect">
            <a:avLst/>
          </a:prstGeom>
        </p:spPr>
      </p:pic>
      <p:pic>
        <p:nvPicPr>
          <p:cNvPr id="7" name="Image 1" descr="Element graficz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61935"/>
            <a:ext cx="2743200" cy="1017193"/>
          </a:xfrm>
          <a:prstGeom prst="rect">
            <a:avLst/>
          </a:prstGeom>
        </p:spPr>
      </p:pic>
      <p:pic>
        <p:nvPicPr>
          <p:cNvPr id="8" name="Image 2" descr="Element graficzn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40" y="2971800"/>
            <a:ext cx="5457984" cy="15087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21792" y="4800600"/>
            <a:ext cx="63550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68680" y="49926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statystyczna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80360" y="499262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wskazuje związek genotypu z wynikiem Case/Control, ale efekt wymaga ostrożnej interpretacji jako asocjacja.</a:t>
            </a:r>
            <a:endParaRPr lang="en-US" sz="1020" dirty="0"/>
          </a:p>
        </p:txBody>
      </p:sp>
      <p:pic>
        <p:nvPicPr>
          <p:cNvPr id="12" name="Image 3" descr="Element graficzn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354455"/>
            <a:ext cx="4251960" cy="31889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06640" y="459028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Wykres z PROC LOGISTIC: Odds Ratios with 95% Wald Confidence Limits</a:t>
            </a:r>
            <a:endParaRPr lang="en-US" sz="870" dirty="0"/>
          </a:p>
        </p:txBody>
      </p:sp>
      <p:sp>
        <p:nvSpPr>
          <p:cNvPr id="14" name="Text 8"/>
          <p:cNvSpPr/>
          <p:nvPr/>
        </p:nvSpPr>
        <p:spPr>
          <a:xfrm>
            <a:off x="7452360" y="4956048"/>
            <a:ext cx="4160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 vs CC: OR = 0,672; 95% CI: 0,501–0,901.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TT vs CC: OR = 0,748; 95% CI: 0,453–1,234.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Dla CT przedział ufności nie obejmuje 1; dla TT obejmuje 1.</a:t>
            </a:r>
            <a:endParaRPr lang="en-US" sz="1080" dirty="0"/>
          </a:p>
        </p:txBody>
      </p:sp>
      <p:sp>
        <p:nvSpPr>
          <p:cNvPr id="15" name="Shape 9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raka płuca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kontyngencji i test χ²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FREQ: MTHFR665 × CaseControl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4641" y="121615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z PROC FREQ: Table of MTHFR665 by CaseControl</a:t>
            </a:r>
            <a:endParaRPr lang="en-US" sz="950" dirty="0"/>
          </a:p>
        </p:txBody>
      </p:sp>
      <p:pic>
        <p:nvPicPr>
          <p:cNvPr id="6" name="Image 0" descr="Element graficzn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641" y="1444752"/>
            <a:ext cx="3857238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29490" y="12347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z PROC FREQ: Chi-Square Tests</a:t>
            </a:r>
            <a:endParaRPr lang="en-US" sz="950" dirty="0"/>
          </a:p>
        </p:txBody>
      </p:sp>
      <p:pic>
        <p:nvPicPr>
          <p:cNvPr id="8" name="Image 1" descr="Element graficzn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90" y="1444752"/>
            <a:ext cx="3851779" cy="2377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416052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43708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tabeli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29400" y="4736592"/>
            <a:ext cx="43434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χ²: p = 0,0267, więc rozkład genotypów różni się między Case i Control.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Odsetek Case w obrębie genotypu: CC 29,15%; CT 21,65%; TT 23,53%.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Cramer's V = 0,0828 sugeruje słabą siłę zależności.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raka płuca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statystyczna i merytoryczna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Oddzielamy wynik matematyczny od wniosku biologicznego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5257800" cy="3337560"/>
          </a:xfrm>
          <a:prstGeom prst="roundRect">
            <a:avLst>
              <a:gd name="adj" fmla="val 219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statystyczna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2057400"/>
            <a:ext cx="46634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Hcy: brak istotnych różnic między genotypami MTHFR665.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Ryzyko Case/Control: genotyp jest istotny w modelu i w tabeli χ².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Dla CT vs CC OR &lt; 1 i 95% CI nie obejmuje 1.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Dla TT vs CC wynik jest niejednoznaczny, bo 95% CI obejmuje 1.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Siła predykcyjna modelu jest słaba: c = 0,549.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53312"/>
            <a:ext cx="5257800" cy="3337560"/>
          </a:xfrm>
          <a:prstGeom prst="roundRect">
            <a:avLst>
              <a:gd name="adj" fmla="val 2192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merytoryczna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7688" y="2057400"/>
            <a:ext cx="466344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Polimorfizm MTHFR C&gt;T jest powiązany z metabolizmem folianów i homocysteiny.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 tym zbiorze nie widać jednak istotnej różnicy Hcy między genotypami.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Związek z Case/Control należy traktować jako asocjację, a nie dowód przyczynowości.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nie kontroluje potencjalnych zmiennych zakłócających: wieku, płci, palenia, folianów czy witaminy B12.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85800" y="5074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27608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 naukowe użyte do </a:t>
            </a:r>
            <a:r>
              <a:rPr lang="en-US" sz="950" b="1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krótkiego</a:t>
            </a: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kontekstu</a:t>
            </a: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biologicznego:</a:t>
            </a:r>
            <a:endParaRPr lang="en-US" sz="95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4663440" y="52760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u="sng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Frosst et al., Nature Genetics 1995</a:t>
            </a:r>
            <a:endParaRPr lang="en-US" sz="930" dirty="0"/>
          </a:p>
        </p:txBody>
      </p:sp>
      <p:sp>
        <p:nvSpPr>
          <p:cNvPr id="14" name="Text 12">
            <a:hlinkClick r:id="rId4"/>
          </p:cNvPr>
          <p:cNvSpPr/>
          <p:nvPr/>
        </p:nvSpPr>
        <p:spPr>
          <a:xfrm>
            <a:off x="7223760" y="52760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u="sng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Mao et al., Journal of Human Genetics 2008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Wnioski końcowe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Odpowiedź na pytania postawione w zadaniu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 1: Hcy a genotyp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ma podstaw do stwierdzenia, że poziom homocysteiny różni się istotnie między genotypami CC, CT i TT.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 kluczowy: Kruskal-Wallis p = 0,4091.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 2: genotyp a ryzyko raka płuca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Genotyp MTHFR665 jest związany ze statusem Case/Control w analizowanym zbiorze.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kluczowe: Type 3 p = 0,0273; χ² p = 0,0267.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 praktyczny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10012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sugerują statystyczną asocjację genotypu ze statusem choroby, ale nie wystarczają do wniosku przyczynowego. Silniejsza analiza wymagałaby modelu wieloczynnikowego z kontrolą wieku, płci, palenia i parametrów metabolizmu folianów.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Hcy</a:t>
            </a:r>
            <a:r>
              <a:rPr lang="en-US" sz="122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brak istotnej różnicy; Case/Control — istotna, lecz słaba zależność z genotypem.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Wnioski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Publikacje naukowe wykorzystane w interpretacji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744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Kontekst biologiczny MTHFR i homocysteiny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0299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Frosst P. et al. A candidate genetic risk factor for vascular disease. Nature Genetics, 1995.</a:t>
            </a:r>
            <a:endParaRPr lang="en-US" sz="115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8595360" y="20299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074420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Kontekst asocjacji MTHFR z rakiem płuca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5840" y="35387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Mao R. et al. Methylenetetrahydrofolate reductase gene polymorphisms and lung cancer: a meta-analysis. Journal of Human Genetics, 2008.</a:t>
            </a:r>
            <a:endParaRPr lang="en-US" sz="1150" dirty="0"/>
          </a:p>
        </p:txBody>
      </p:sp>
      <p:sp>
        <p:nvSpPr>
          <p:cNvPr id="12" name="Text 10">
            <a:hlinkClick r:id="rId4"/>
          </p:cNvPr>
          <p:cNvSpPr/>
          <p:nvPr/>
        </p:nvSpPr>
        <p:spPr>
          <a:xfrm>
            <a:off x="9829800" y="35387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6236208"/>
            <a:ext cx="11109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34593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Źródła naukowe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345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2606</Words>
  <Application>Microsoft Office PowerPoint</Application>
  <PresentationFormat>Panoramiczny</PresentationFormat>
  <Paragraphs>273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Hcy i ryzyka raka płuca względem genotypu MTHFR 665 C&gt;T</dc:title>
  <dc:subject>Biostatystyka – zadanie 7</dc:subject>
  <dc:creator/>
  <cp:lastModifiedBy/>
  <cp:revision>5</cp:revision>
  <dcterms:created xsi:type="dcterms:W3CDTF">2026-06-02T18:19:04Z</dcterms:created>
  <dcterms:modified xsi:type="dcterms:W3CDTF">2026-06-04T17:03:53Z</dcterms:modified>
</cp:coreProperties>
</file>